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1E3A8A"/>
                </a:solidFill>
              </a:defRPr>
            </a:pPr>
            <a:r>
              <a:t>NEST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64748B"/>
                </a:solidFill>
              </a:defRPr>
            </a:pPr>
            <a:r>
              <a:t>Near Easy Shop Tracker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748B"/>
                </a:solidFill>
              </a:defRPr>
            </a:pPr>
            <a:r>
              <a:t>E-Commerce Grocery Discovery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748B"/>
                </a:solidFill>
              </a:defRPr>
            </a:pPr>
            <a:r>
              <a:t>College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E3A8A"/>
                </a:solidFill>
              </a:defRPr>
            </a:pPr>
            <a:r>
              <a:t>ABSTRACT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828800" y="914400"/>
            <a:ext cx="5486400" cy="0"/>
          </a:xfrm>
          <a:prstGeom prst="line">
            <a:avLst/>
          </a:prstGeom>
          <a:ln w="38100">
            <a:solidFill>
              <a:srgbClr val="1E3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334155"/>
                </a:solidFill>
              </a:defRPr>
            </a:pPr>
            <a:r>
              <a:rPr b="1"/>
              <a:t>Problem: Traditional grocery shopping faces challenges - difficulty discovering nearby stores, no real-time product availability, inefficient shop management</a:t>
            </a:r>
          </a:p>
          <a:p>
            <a:pPr>
              <a:spcBef>
                <a:spcPts val="1200"/>
              </a:spcBef>
              <a:defRPr sz="1600">
                <a:solidFill>
                  <a:srgbClr val="334155"/>
                </a:solidFill>
              </a:defRPr>
            </a:pPr>
            <a:r>
              <a:rPr b="1"/>
              <a:t>Solution: NEST is a comprehensive digital platform connecting local grocery stores with customers through mobile technology</a:t>
            </a:r>
          </a:p>
          <a:p>
            <a:pPr>
              <a:spcBef>
                <a:spcPts val="1200"/>
              </a:spcBef>
              <a:defRPr sz="1600">
                <a:solidFill>
                  <a:srgbClr val="334155"/>
                </a:solidFill>
              </a:defRPr>
            </a:pPr>
            <a:r>
              <a:rPr b="1"/>
              <a:t>Technology: Built with Flutter framework for cross-platform support (Android, iOS, Web)</a:t>
            </a:r>
          </a:p>
          <a:p>
            <a:pPr>
              <a:spcBef>
                <a:spcPts val="1200"/>
              </a:spcBef>
              <a:defRPr sz="1600">
                <a:solidFill>
                  <a:srgbClr val="334155"/>
                </a:solidFill>
              </a:defRPr>
            </a:pPr>
            <a:r>
              <a:rPr b="1"/>
              <a:t>Features: GPS-based shop discovery, 1000+ product catalog, real-time inventory management, automated billing, and sales analytics</a:t>
            </a:r>
          </a:p>
          <a:p>
            <a:pPr>
              <a:spcBef>
                <a:spcPts val="1200"/>
              </a:spcBef>
              <a:defRPr sz="1600">
                <a:solidFill>
                  <a:srgbClr val="334155"/>
                </a:solidFill>
              </a:defRPr>
            </a:pPr>
            <a:r>
              <a:rPr b="1"/>
              <a:t>Impact: Bridges digital divide for local grocery stores while providing modern shopping conveniences to customers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E3A8A"/>
                </a:solidFill>
              </a:defRPr>
            </a:pPr>
            <a:r>
              <a:t>PROJECT OBJECTIVES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828800" y="914400"/>
            <a:ext cx="5486400" cy="0"/>
          </a:xfrm>
          <a:prstGeom prst="line">
            <a:avLst/>
          </a:prstGeom>
          <a:ln w="38100">
            <a:solidFill>
              <a:srgbClr val="1E3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🛍️ Customer Goals</a:t>
            </a:r>
          </a:p>
          <a:p>
            <a:pPr>
              <a:spcBef>
                <a:spcPts val="1000"/>
              </a:spcBef>
              <a:defRPr sz="1600">
                <a:solidFill>
                  <a:srgbClr val="334155"/>
                </a:solidFill>
              </a:defRPr>
            </a:pPr>
            <a:r>
              <a:t>✓ Discover nearby stores using GPS</a:t>
            </a:r>
          </a:p>
          <a:p>
            <a:pPr>
              <a:spcBef>
                <a:spcPts val="1000"/>
              </a:spcBef>
              <a:defRPr sz="1600">
                <a:solidFill>
                  <a:srgbClr val="334155"/>
                </a:solidFill>
              </a:defRPr>
            </a:pPr>
            <a:r>
              <a:t>✓ Browse 1000+ product catalog</a:t>
            </a:r>
          </a:p>
          <a:p>
            <a:pPr>
              <a:spcBef>
                <a:spcPts val="1000"/>
              </a:spcBef>
              <a:defRPr sz="1600">
                <a:solidFill>
                  <a:srgbClr val="334155"/>
                </a:solidFill>
              </a:defRPr>
            </a:pPr>
            <a:r>
              <a:t>✓ Real-time availability tracking</a:t>
            </a:r>
          </a:p>
          <a:p>
            <a:pPr>
              <a:spcBef>
                <a:spcPts val="1000"/>
              </a:spcBef>
              <a:defRPr sz="1600">
                <a:solidFill>
                  <a:srgbClr val="334155"/>
                </a:solidFill>
              </a:defRPr>
            </a:pPr>
            <a:r>
              <a:t>✓ Smart shopping cart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371600"/>
            <a:ext cx="3657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🏪 Shop Owner Goals</a:t>
            </a:r>
          </a:p>
          <a:p>
            <a:pPr>
              <a:spcBef>
                <a:spcPts val="1000"/>
              </a:spcBef>
              <a:defRPr sz="1600">
                <a:solidFill>
                  <a:srgbClr val="334155"/>
                </a:solidFill>
              </a:defRPr>
            </a:pPr>
            <a:r>
              <a:t>✓ Digital inventory management</a:t>
            </a:r>
          </a:p>
          <a:p>
            <a:pPr>
              <a:spcBef>
                <a:spcPts val="1000"/>
              </a:spcBef>
              <a:defRPr sz="1600">
                <a:solidFill>
                  <a:srgbClr val="334155"/>
                </a:solidFill>
              </a:defRPr>
            </a:pPr>
            <a:r>
              <a:t>✓ Automated billing system</a:t>
            </a:r>
          </a:p>
          <a:p>
            <a:pPr>
              <a:spcBef>
                <a:spcPts val="1000"/>
              </a:spcBef>
              <a:defRPr sz="1600">
                <a:solidFill>
                  <a:srgbClr val="334155"/>
                </a:solidFill>
              </a:defRPr>
            </a:pPr>
            <a:r>
              <a:t>✓ Sales analytics &amp; insights</a:t>
            </a:r>
          </a:p>
          <a:p>
            <a:pPr>
              <a:spcBef>
                <a:spcPts val="1000"/>
              </a:spcBef>
              <a:defRPr sz="1600">
                <a:solidFill>
                  <a:srgbClr val="334155"/>
                </a:solidFill>
              </a:defRPr>
            </a:pPr>
            <a:r>
              <a:t>✓ Business growth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E3A8A"/>
                </a:solidFill>
              </a:defRPr>
            </a:pPr>
            <a:r>
              <a:t>BACKEND TECHNOLOGIES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828800" y="914400"/>
            <a:ext cx="5486400" cy="0"/>
          </a:xfrm>
          <a:prstGeom prst="line">
            <a:avLst/>
          </a:prstGeom>
          <a:ln w="38100">
            <a:solidFill>
              <a:srgbClr val="1E3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914400" y="1645920"/>
            <a:ext cx="7315200" cy="822960"/>
          </a:xfrm>
          <a:prstGeom prst="rect">
            <a:avLst/>
          </a:prstGeom>
          <a:solidFill>
            <a:srgbClr val="F0F9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E3A8A"/>
                </a:solidFill>
              </a:defRPr>
            </a:pPr>
            <a:r>
              <a:t>🔥 Firebase Core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Version 2.24.2 - Cloud platform initialization and configuration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651760"/>
            <a:ext cx="7315200" cy="822960"/>
          </a:xfrm>
          <a:prstGeom prst="rect">
            <a:avLst/>
          </a:prstGeom>
          <a:solidFill>
            <a:srgbClr val="F0F9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E3A8A"/>
                </a:solidFill>
              </a:defRPr>
            </a:pPr>
            <a:r>
              <a:t>☁️ Cloud Firestore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NoSQL database with real-time synchronization capabilities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657600"/>
            <a:ext cx="7315200" cy="822960"/>
          </a:xfrm>
          <a:prstGeom prst="rect">
            <a:avLst/>
          </a:prstGeom>
          <a:solidFill>
            <a:srgbClr val="F0F9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E3A8A"/>
                </a:solidFill>
              </a:defRPr>
            </a:pPr>
            <a:r>
              <a:t>📦 Provider Pattern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State management with reactive updates and dependency injection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663440"/>
            <a:ext cx="7315200" cy="822960"/>
          </a:xfrm>
          <a:prstGeom prst="rect">
            <a:avLst/>
          </a:prstGeom>
          <a:solidFill>
            <a:srgbClr val="F0F9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E3A8A"/>
                </a:solidFill>
              </a:defRPr>
            </a:pPr>
            <a:r>
              <a:t>💾 Local Storage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Offline-first architecture with in-memory data caching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E3A8A"/>
                </a:solidFill>
              </a:defRPr>
            </a:pPr>
            <a:r>
              <a:t>FRONTEND TECHNOLOGIES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828800" y="914400"/>
            <a:ext cx="5486400" cy="0"/>
          </a:xfrm>
          <a:prstGeom prst="line">
            <a:avLst/>
          </a:prstGeom>
          <a:ln w="38100">
            <a:solidFill>
              <a:srgbClr val="1E3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57200" y="1645920"/>
            <a:ext cx="3931920" cy="1371600"/>
          </a:xfrm>
          <a:prstGeom prst="rect">
            <a:avLst/>
          </a:prstGeom>
          <a:solidFill>
            <a:srgbClr val="F0F9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A8A"/>
                </a:solidFill>
              </a:defRPr>
            </a:pPr>
            <a:r>
              <a:t>📱 Flutter 3.0+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Cross-platform UI framework for beautiful native apps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1645920"/>
            <a:ext cx="3931920" cy="1371600"/>
          </a:xfrm>
          <a:prstGeom prst="rect">
            <a:avLst/>
          </a:prstGeom>
          <a:solidFill>
            <a:srgbClr val="F0F9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A8A"/>
                </a:solidFill>
              </a:defRPr>
            </a:pPr>
            <a:r>
              <a:t>🎯 Dart 3.0+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Modern programming language optimized for UI development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474720"/>
            <a:ext cx="3931920" cy="1371600"/>
          </a:xfrm>
          <a:prstGeom prst="rect">
            <a:avLst/>
          </a:prstGeom>
          <a:solidFill>
            <a:srgbClr val="F0F9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A8A"/>
                </a:solidFill>
              </a:defRPr>
            </a:pPr>
            <a:r>
              <a:t>🎨 Material Design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Comprehensive UI component library following Google's design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3474720"/>
            <a:ext cx="3931920" cy="1371600"/>
          </a:xfrm>
          <a:prstGeom prst="rect">
            <a:avLst/>
          </a:prstGeom>
          <a:solidFill>
            <a:srgbClr val="F0F9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A8A"/>
                </a:solidFill>
              </a:defRPr>
            </a:pPr>
            <a:r>
              <a:t>⚡ Provider 6.0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Reactive state management for seamless UI updates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03520"/>
            <a:ext cx="1828800" cy="914400"/>
          </a:xfrm>
          <a:prstGeom prst="rect">
            <a:avLst/>
          </a:prstGeom>
          <a:solidFill>
            <a:srgbClr val="10B98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15+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Screens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5303520"/>
            <a:ext cx="1828800" cy="914400"/>
          </a:xfrm>
          <a:prstGeom prst="rect">
            <a:avLst/>
          </a:prstGeom>
          <a:solidFill>
            <a:srgbClr val="10B98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50+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Components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5303520"/>
            <a:ext cx="1828800" cy="914400"/>
          </a:xfrm>
          <a:prstGeom prst="rect">
            <a:avLst/>
          </a:prstGeom>
          <a:solidFill>
            <a:srgbClr val="10B98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5000+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Lines of Code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5303520"/>
            <a:ext cx="1828800" cy="914400"/>
          </a:xfrm>
          <a:prstGeom prst="rect">
            <a:avLst/>
          </a:prstGeom>
          <a:solidFill>
            <a:srgbClr val="10B98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3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Platforms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E3A8A"/>
                </a:solidFill>
              </a:defRPr>
            </a:pPr>
            <a:r>
              <a:t>DEVELOPMENT METHODOLOGY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828800" y="914400"/>
            <a:ext cx="5486400" cy="0"/>
          </a:xfrm>
          <a:prstGeom prst="line">
            <a:avLst/>
          </a:prstGeom>
          <a:ln w="38100">
            <a:solidFill>
              <a:srgbClr val="1E3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1887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E3A8A"/>
                </a:solidFill>
              </a:defRPr>
            </a:pPr>
            <a:r>
              <a:t>Agile Scrum - 8 Week Development Sprint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920240"/>
            <a:ext cx="6400800" cy="640080"/>
          </a:xfrm>
          <a:prstGeom prst="rect">
            <a:avLst/>
          </a:prstGeom>
          <a:solidFill>
            <a:srgbClr val="DCFCE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65F46"/>
                </a:solidFill>
              </a:defRPr>
            </a:pPr>
            <a:r>
              <a:t>📋 Week 1: Requirements Analysis</a:t>
            </a:r>
          </a:p>
          <a:p>
            <a:pPr>
              <a:defRPr sz="1100">
                <a:solidFill>
                  <a:srgbClr val="047857"/>
                </a:solidFill>
              </a:defRPr>
            </a:pPr>
            <a:r>
              <a:t>Problem identification, market research, feature prioritization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670048"/>
            <a:ext cx="6400800" cy="640080"/>
          </a:xfrm>
          <a:prstGeom prst="rect">
            <a:avLst/>
          </a:prstGeom>
          <a:solidFill>
            <a:srgbClr val="DCFCE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65F46"/>
                </a:solidFill>
              </a:defRPr>
            </a:pPr>
            <a:r>
              <a:t>🎨 Week 2: Design</a:t>
            </a:r>
          </a:p>
          <a:p>
            <a:pPr>
              <a:defRPr sz="1100">
                <a:solidFill>
                  <a:srgbClr val="047857"/>
                </a:solidFill>
              </a:defRPr>
            </a:pPr>
            <a:r>
              <a:t>UI/UX wireframing, database schema, architecture design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419856"/>
            <a:ext cx="6400800" cy="640080"/>
          </a:xfrm>
          <a:prstGeom prst="rect">
            <a:avLst/>
          </a:prstGeom>
          <a:solidFill>
            <a:srgbClr val="DCFCE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65F46"/>
                </a:solidFill>
              </a:defRPr>
            </a:pPr>
            <a:r>
              <a:t>💻 Week 3-4: Core Development</a:t>
            </a:r>
          </a:p>
          <a:p>
            <a:pPr>
              <a:defRPr sz="1100">
                <a:solidFill>
                  <a:srgbClr val="047857"/>
                </a:solidFill>
              </a:defRPr>
            </a:pPr>
            <a:r>
              <a:t>Authentication, customer module, map integration, cart 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4169663"/>
            <a:ext cx="6400800" cy="640080"/>
          </a:xfrm>
          <a:prstGeom prst="rect">
            <a:avLst/>
          </a:prstGeom>
          <a:solidFill>
            <a:srgbClr val="DCFCE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65F46"/>
                </a:solidFill>
              </a:defRPr>
            </a:pPr>
            <a:r>
              <a:t>🏪 Week 5-6: Shop Module</a:t>
            </a:r>
          </a:p>
          <a:p>
            <a:pPr>
              <a:defRPr sz="1100">
                <a:solidFill>
                  <a:srgbClr val="047857"/>
                </a:solidFill>
              </a:defRPr>
            </a:pPr>
            <a:r>
              <a:t>Dashboard, inventory management, billing, analytics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4919472"/>
            <a:ext cx="6400800" cy="640080"/>
          </a:xfrm>
          <a:prstGeom prst="rect">
            <a:avLst/>
          </a:prstGeom>
          <a:solidFill>
            <a:srgbClr val="DCFCE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65F46"/>
                </a:solidFill>
              </a:defRPr>
            </a:pPr>
            <a:r>
              <a:t>✅ Week 7: Testing &amp; QA</a:t>
            </a:r>
          </a:p>
          <a:p>
            <a:pPr>
              <a:defRPr sz="1100">
                <a:solidFill>
                  <a:srgbClr val="047857"/>
                </a:solidFill>
              </a:defRPr>
            </a:pPr>
            <a:r>
              <a:t>Unit testing, integration testing, bug fixes, optimization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5669280"/>
            <a:ext cx="6400800" cy="640080"/>
          </a:xfrm>
          <a:prstGeom prst="rect">
            <a:avLst/>
          </a:prstGeom>
          <a:solidFill>
            <a:srgbClr val="DCFCE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65F46"/>
                </a:solidFill>
              </a:defRPr>
            </a:pPr>
            <a:r>
              <a:t>🚀 Week 8: Deployment</a:t>
            </a:r>
          </a:p>
          <a:p>
            <a:pPr>
              <a:defRPr sz="1100">
                <a:solidFill>
                  <a:srgbClr val="047857"/>
                </a:solidFill>
              </a:defRPr>
            </a:pPr>
            <a:r>
              <a:t>APK building, documentation, user manual, release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E3A8A"/>
                </a:solidFill>
              </a:defRPr>
            </a:pPr>
            <a:r>
              <a:t>KEY ALGORITHMS IMPLEMENTED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828800" y="914400"/>
            <a:ext cx="5486400" cy="0"/>
          </a:xfrm>
          <a:prstGeom prst="line">
            <a:avLst/>
          </a:prstGeom>
          <a:ln w="38100">
            <a:solidFill>
              <a:srgbClr val="1E3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57200" y="1828800"/>
            <a:ext cx="2651760" cy="2011680"/>
          </a:xfrm>
          <a:prstGeom prst="rect">
            <a:avLst/>
          </a:prstGeom>
          <a:solidFill>
            <a:srgbClr val="F8FAFC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📍 Haversine Formula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Distance Calculation</a:t>
            </a:r>
          </a:p>
          <a:p>
            <a:pPr>
              <a:spcBef>
                <a:spcPts val="800"/>
              </a:spcBef>
              <a:defRPr sz="1200" b="1">
                <a:solidFill>
                  <a:srgbClr val="3B82F6"/>
                </a:solidFill>
              </a:defRPr>
            </a:pPr>
            <a:r>
              <a:t>O(1)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0" y="1828800"/>
            <a:ext cx="2651760" cy="2011680"/>
          </a:xfrm>
          <a:prstGeom prst="rect">
            <a:avLst/>
          </a:prstGeom>
          <a:solidFill>
            <a:srgbClr val="F8FAFC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🔍 Fuzzy Search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Multi-field Matching</a:t>
            </a:r>
          </a:p>
          <a:p>
            <a:pPr>
              <a:spcBef>
                <a:spcPts val="800"/>
              </a:spcBef>
              <a:defRPr sz="1200" b="1">
                <a:solidFill>
                  <a:srgbClr val="3B82F6"/>
                </a:solidFill>
              </a:defRPr>
            </a:pPr>
            <a:r>
              <a:t>O(n×m)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828800"/>
            <a:ext cx="2651760" cy="2011680"/>
          </a:xfrm>
          <a:prstGeom prst="rect">
            <a:avLst/>
          </a:prstGeom>
          <a:solidFill>
            <a:srgbClr val="F8FAFC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📝 Levenshtein Distance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Edit Distance</a:t>
            </a:r>
          </a:p>
          <a:p>
            <a:pPr>
              <a:spcBef>
                <a:spcPts val="800"/>
              </a:spcBef>
              <a:defRPr sz="1200" b="1">
                <a:solidFill>
                  <a:srgbClr val="3B82F6"/>
                </a:solidFill>
              </a:defRPr>
            </a:pPr>
            <a:r>
              <a:t>O(n×m)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114800"/>
            <a:ext cx="2651760" cy="2011680"/>
          </a:xfrm>
          <a:prstGeom prst="rect">
            <a:avLst/>
          </a:prstGeom>
          <a:solidFill>
            <a:srgbClr val="F8FAFC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📦 Inventory Management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Stock Tracking</a:t>
            </a:r>
          </a:p>
          <a:p>
            <a:pPr>
              <a:spcBef>
                <a:spcPts val="800"/>
              </a:spcBef>
              <a:defRPr sz="1200" b="1">
                <a:solidFill>
                  <a:srgbClr val="3B82F6"/>
                </a:solidFill>
              </a:defRPr>
            </a:pPr>
            <a:r>
              <a:t>O(n)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4114800"/>
            <a:ext cx="2651760" cy="2011680"/>
          </a:xfrm>
          <a:prstGeom prst="rect">
            <a:avLst/>
          </a:prstGeom>
          <a:solidFill>
            <a:srgbClr val="F8FAFC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📊 Sales Analytics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Time-series</a:t>
            </a:r>
          </a:p>
          <a:p>
            <a:pPr>
              <a:spcBef>
                <a:spcPts val="800"/>
              </a:spcBef>
              <a:defRPr sz="1200" b="1">
                <a:solidFill>
                  <a:srgbClr val="3B82F6"/>
                </a:solidFill>
              </a:defRPr>
            </a:pPr>
            <a:r>
              <a:t>O(n log n)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4114800"/>
            <a:ext cx="2651760" cy="2011680"/>
          </a:xfrm>
          <a:prstGeom prst="rect">
            <a:avLst/>
          </a:prstGeom>
          <a:solidFill>
            <a:srgbClr val="F8FAFC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⚡ QuickSort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Distance Sorting</a:t>
            </a:r>
          </a:p>
          <a:p>
            <a:pPr>
              <a:spcBef>
                <a:spcPts val="800"/>
              </a:spcBef>
              <a:defRPr sz="1200" b="1">
                <a:solidFill>
                  <a:srgbClr val="3B82F6"/>
                </a:solidFill>
              </a:defRPr>
            </a:pPr>
            <a:r>
              <a:t>O(n log 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E3A8A"/>
                </a:solidFill>
              </a:defRPr>
            </a:pPr>
            <a:r>
              <a:t>EXPECTED OUTPUT &amp; RESULTS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828800" y="914400"/>
            <a:ext cx="5486400" cy="0"/>
          </a:xfrm>
          <a:prstGeom prst="line">
            <a:avLst/>
          </a:prstGeom>
          <a:ln w="38100">
            <a:solidFill>
              <a:srgbClr val="1E3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645920"/>
            <a:ext cx="4114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t>🛍️ Customer Experience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</a:defRPr>
            </a:pPr>
            <a:r>
              <a:t>• Interactive map with nearby shops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</a:defRPr>
            </a:pPr>
            <a:r>
              <a:t>• Product search with auto-suggestions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</a:defRPr>
            </a:pPr>
            <a:r>
              <a:t>• Shopping cart with tax calculations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</a:defRPr>
            </a:pPr>
            <a:r>
              <a:t>• Real-time stock availability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645920"/>
            <a:ext cx="3657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t>🏪 Shop Owner Dashboard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</a:defRPr>
            </a:pPr>
            <a:r>
              <a:t>• Daily sales overview with stats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</a:defRPr>
            </a:pPr>
            <a:r>
              <a:t>• Inventory management (245+ items)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</a:defRPr>
            </a:pPr>
            <a:r>
              <a:t>• Automated billing system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</a:defRPr>
            </a:pPr>
            <a:r>
              <a:t>• Analytics with visual charts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4846320"/>
            <a:ext cx="1645920" cy="1097280"/>
          </a:xfrm>
          <a:prstGeom prst="rect">
            <a:avLst/>
          </a:prstGeom>
          <a:solidFill>
            <a:srgbClr val="3B82F6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1000+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Products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4846320"/>
            <a:ext cx="1645920" cy="1097280"/>
          </a:xfrm>
          <a:prstGeom prst="rect">
            <a:avLst/>
          </a:prstGeom>
          <a:solidFill>
            <a:srgbClr val="667EE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GPS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Tracking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4846320"/>
            <a:ext cx="1645920" cy="1097280"/>
          </a:xfrm>
          <a:prstGeom prst="rect">
            <a:avLst/>
          </a:prstGeom>
          <a:solidFill>
            <a:srgbClr val="EC489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Auto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Billing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675120" y="4846320"/>
            <a:ext cx="1645920" cy="1097280"/>
          </a:xfrm>
          <a:prstGeom prst="rect">
            <a:avLst/>
          </a:prstGeom>
          <a:solidFill>
            <a:srgbClr val="F59E0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Charts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Analytics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E3A8A"/>
                </a:solidFill>
              </a:defRPr>
            </a:pPr>
            <a:r>
              <a:t>FUTURE ENHANCEMENTS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828800" y="914400"/>
            <a:ext cx="5486400" cy="0"/>
          </a:xfrm>
          <a:prstGeom prst="line">
            <a:avLst/>
          </a:prstGeom>
          <a:ln w="38100">
            <a:solidFill>
              <a:srgbClr val="1E3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1828800"/>
            <a:ext cx="3840480" cy="1828800"/>
          </a:xfrm>
          <a:prstGeom prst="rect">
            <a:avLst/>
          </a:prstGeom>
          <a:solidFill>
            <a:srgbClr val="DBEAFE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☁️ Phase 2: Backend Integration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• Firebase real-time sync</a:t>
            </a:r>
            <a:br/>
            <a:r>
              <a:t>• OTP authentication</a:t>
            </a:r>
            <a:br/>
            <a:r>
              <a:t>• Multi-device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0" y="1828800"/>
            <a:ext cx="3840480" cy="1828800"/>
          </a:xfrm>
          <a:prstGeom prst="rect">
            <a:avLst/>
          </a:prstGeom>
          <a:solidFill>
            <a:srgbClr val="DBEAFE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⭐ Phase 3: Advanced Features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• Payment gateway (Razorpay/Stripe)</a:t>
            </a:r>
            <a:br/>
            <a:r>
              <a:t>• Order tracking system</a:t>
            </a:r>
            <a:br/>
            <a:r>
              <a:t>• Push notifications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114800"/>
            <a:ext cx="3840480" cy="1828800"/>
          </a:xfrm>
          <a:prstGeom prst="rect">
            <a:avLst/>
          </a:prstGeom>
          <a:solidFill>
            <a:srgbClr val="DBEAFE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🤖 Phase 4: AI &amp; ML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• Product recommendations</a:t>
            </a:r>
            <a:br/>
            <a:r>
              <a:t>• Demand forecasting</a:t>
            </a:r>
            <a:br/>
            <a:r>
              <a:t>• Dynamic price optimization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4114800"/>
            <a:ext cx="3840480" cy="1828800"/>
          </a:xfrm>
          <a:prstGeom prst="rect">
            <a:avLst/>
          </a:prstGeom>
          <a:solidFill>
            <a:srgbClr val="DBEAFE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📈 Phase 5: Business Expansion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• Multi-language support</a:t>
            </a:r>
            <a:br/>
            <a:r>
              <a:t>• Subscription plans</a:t>
            </a:r>
            <a:br/>
            <a:r>
              <a:t>• Loyalty &amp; rewards program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E3A8A"/>
                </a:solidFill>
              </a:defRPr>
            </a:pPr>
            <a:r>
              <a:t>CONCLUSION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828800" y="914400"/>
            <a:ext cx="5486400" cy="0"/>
          </a:xfrm>
          <a:prstGeom prst="line">
            <a:avLst/>
          </a:prstGeom>
          <a:ln w="38100">
            <a:solidFill>
              <a:srgbClr val="1E3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0B981"/>
                </a:solidFill>
              </a:defRPr>
            </a:pPr>
            <a:r>
              <a:t>✅ Successfully Delivered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10312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34155"/>
                </a:solidFill>
              </a:defRPr>
            </a:pPr>
            <a:r>
              <a:t>✓ Dual-role platform (Customer &amp; Shop Owner)</a:t>
            </a:r>
          </a:p>
          <a:p>
            <a:pPr>
              <a:spcBef>
                <a:spcPts val="1200"/>
              </a:spcBef>
              <a:defRPr sz="1800">
                <a:solidFill>
                  <a:srgbClr val="334155"/>
                </a:solidFill>
              </a:defRPr>
            </a:pPr>
            <a:r>
              <a:t>✓ 1000+ product catalog integration</a:t>
            </a:r>
          </a:p>
          <a:p>
            <a:pPr>
              <a:spcBef>
                <a:spcPts val="1200"/>
              </a:spcBef>
              <a:defRPr sz="1800">
                <a:solidFill>
                  <a:srgbClr val="334155"/>
                </a:solidFill>
              </a:defRPr>
            </a:pPr>
            <a:r>
              <a:t>✓ GPS-based shop discovery system</a:t>
            </a:r>
          </a:p>
          <a:p>
            <a:pPr>
              <a:spcBef>
                <a:spcPts val="1200"/>
              </a:spcBef>
              <a:defRPr sz="1800">
                <a:solidFill>
                  <a:srgbClr val="334155"/>
                </a:solidFill>
              </a:defRPr>
            </a:pPr>
            <a:r>
              <a:t>✓ Complete inventory &amp; billing management</a:t>
            </a:r>
          </a:p>
          <a:p>
            <a:pPr>
              <a:spcBef>
                <a:spcPts val="1200"/>
              </a:spcBef>
              <a:defRPr sz="1800">
                <a:solidFill>
                  <a:srgbClr val="334155"/>
                </a:solidFill>
              </a:defRPr>
            </a:pPr>
            <a:r>
              <a:t>✓ Comprehensive sales analytics with charts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5029200"/>
            <a:ext cx="1645920" cy="914400"/>
          </a:xfrm>
          <a:prstGeom prst="rect">
            <a:avLst/>
          </a:prstGeom>
          <a:solidFill>
            <a:srgbClr val="667EE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15+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Screens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5029200"/>
            <a:ext cx="1645920" cy="914400"/>
          </a:xfrm>
          <a:prstGeom prst="rect">
            <a:avLst/>
          </a:prstGeom>
          <a:solidFill>
            <a:srgbClr val="667EE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5000+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Lines of 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5029200"/>
            <a:ext cx="1645920" cy="914400"/>
          </a:xfrm>
          <a:prstGeom prst="rect">
            <a:avLst/>
          </a:prstGeom>
          <a:solidFill>
            <a:srgbClr val="667EE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Platforms</a:t>
            </a:r>
          </a:p>
        </p:txBody>
      </p:sp>
      <p:sp>
        <p:nvSpPr>
          <p:cNvPr id="9" name="Rectangle 8"/>
          <p:cNvSpPr/>
          <p:nvPr/>
        </p:nvSpPr>
        <p:spPr>
          <a:xfrm>
            <a:off x="6675120" y="5029200"/>
            <a:ext cx="1645920" cy="914400"/>
          </a:xfrm>
          <a:prstGeom prst="rect">
            <a:avLst/>
          </a:prstGeom>
          <a:solidFill>
            <a:srgbClr val="667EE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25MB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APK Size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1264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E3A8A"/>
                </a:solidFill>
              </a:defRPr>
            </a:pPr>
            <a:r>
              <a:t>Thank You! 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